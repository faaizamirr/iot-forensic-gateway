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67" r:id="rId6"/>
    <p:sldId id="259" r:id="rId7"/>
    <p:sldId id="260" r:id="rId8"/>
    <p:sldId id="270" r:id="rId9"/>
    <p:sldId id="271" r:id="rId10"/>
    <p:sldId id="261" r:id="rId11"/>
    <p:sldId id="268" r:id="rId12"/>
    <p:sldId id="266" r:id="rId13"/>
    <p:sldId id="262" r:id="rId14"/>
    <p:sldId id="263" r:id="rId15"/>
    <p:sldId id="264" r:id="rId16"/>
    <p:sldId id="265" r:id="rId17"/>
    <p:sldId id="269" r:id="rId18"/>
  </p:sldIdLst>
  <p:sldSz cx="9144000" cy="5143500" type="screen16x9"/>
  <p:notesSz cx="5143500" cy="9144000"/>
  <p:embeddedFontLst>
    <p:embeddedFont>
      <p:font typeface="Roboto Slab" panose="020B0604020202020204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Roboto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97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97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21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2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92993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4606" y="832842"/>
            <a:ext cx="7126188" cy="844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IoT Forensic Gateway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244301" y="1870472"/>
            <a:ext cx="8426797" cy="26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Real Time Forensic Gateway &amp; Predictive Network Intrusion Detection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4301" y="2279228"/>
            <a:ext cx="8426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2901" y="2668935"/>
            <a:ext cx="8198197" cy="10120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2901" y="2857649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2901" y="3213646"/>
            <a:ext cx="4034730" cy="533995"/>
          </a:xfrm>
          <a:prstGeom prst="roundRect">
            <a:avLst>
              <a:gd name="adj" fmla="val 3796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607963" y="3348707"/>
            <a:ext cx="3764607" cy="26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Faaiza Mir (2503500)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36368" y="3213646"/>
            <a:ext cx="4034730" cy="533995"/>
          </a:xfrm>
          <a:prstGeom prst="roundRect">
            <a:avLst>
              <a:gd name="adj" fmla="val 3796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4771430" y="3348707"/>
            <a:ext cx="3764607" cy="26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 Masood (2503525)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2901" y="3876377"/>
            <a:ext cx="4034730" cy="533995"/>
          </a:xfrm>
          <a:prstGeom prst="roundRect">
            <a:avLst>
              <a:gd name="adj" fmla="val 3796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607963" y="4011439"/>
            <a:ext cx="3764607" cy="26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Sana Rahat (2503539)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36368" y="3876377"/>
            <a:ext cx="4034730" cy="533995"/>
          </a:xfrm>
          <a:prstGeom prst="roundRect">
            <a:avLst>
              <a:gd name="adj" fmla="val 3796"/>
            </a:avLst>
          </a:prstGeom>
          <a:solidFill>
            <a:srgbClr val="3F4652"/>
          </a:solidFill>
          <a:ln/>
        </p:spPr>
      </p:sp>
      <p:sp>
        <p:nvSpPr>
          <p:cNvPr id="15" name="Text 13"/>
          <p:cNvSpPr/>
          <p:nvPr/>
        </p:nvSpPr>
        <p:spPr>
          <a:xfrm>
            <a:off x="4771430" y="4011439"/>
            <a:ext cx="3764607" cy="26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Afshan Nawaz (2503544)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2901" y="4555257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0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901" y="4698519"/>
            <a:ext cx="1892397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73997" y="418339"/>
            <a:ext cx="3150221" cy="521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800" dirty="0" smtClean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644132" y="1662108"/>
            <a:ext cx="4231064" cy="3250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</a:t>
            </a:r>
            <a:r>
              <a:rPr lang="en-US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IoT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Forensic Gap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System Architecture Overview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Data Pipeline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Edge Node Configuration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Asynchronous Packet </a:t>
            </a:r>
            <a:r>
              <a:rPr lang="en-US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Ingestion</a:t>
            </a: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 Case Diagram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Activity Diagram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Component 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Diagram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82691" y="1662108"/>
            <a:ext cx="4572000" cy="23970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Signature-Based 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Intrusion Detection</a:t>
            </a: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Core Python Libraries</a:t>
            </a: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Data Flow Diagram</a:t>
            </a: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SQLite Relational Evidence Store</a:t>
            </a: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Why SQLite?</a:t>
            </a: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Web Dashboard (dashboard.py)</a:t>
            </a: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Test Scenarios &amp; Comparative Edge</a:t>
            </a:r>
          </a:p>
          <a:p>
            <a:pPr marL="34290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Future Enhancements &amp; Conclusion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659" y="4731988"/>
            <a:ext cx="1892397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0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05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996628"/>
            <a:ext cx="53481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IoT Forensic Gap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496119" y="182061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4022" y="2206898"/>
            <a:ext cx="4107135" cy="2049735"/>
          </a:xfrm>
          <a:prstGeom prst="roundRect">
            <a:avLst>
              <a:gd name="adj" fmla="val 1037"/>
            </a:avLst>
          </a:prstGeom>
          <a:solidFill>
            <a:srgbClr val="8C98CA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2348657"/>
            <a:ext cx="31631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Traditional Forensics Fails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711872"/>
            <a:ext cx="3823618" cy="1417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devices lack persistent storage and traditional file systems, making forensic imaging impossible. Operational data is purely transient  when power is lost, evidence is gone permanently.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34865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Critical Gap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711872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Tools like Wireshark and Zeek require manual intervention  impractical at industrial scale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Stateless UDP protocols mean any missed packet is lost forever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automated bridge between high-frequency telemetry and court-admissible preservation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441610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685" y="4674408"/>
            <a:ext cx="1892397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45728"/>
            <a:ext cx="49257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 Overview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13" y="950342"/>
            <a:ext cx="8207499" cy="3539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474" y="3818443"/>
            <a:ext cx="3176933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Administrative Layer: Web interface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020474" y="2999157"/>
            <a:ext cx="3920058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Persistence Layer: SQLite relational database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020474" y="2188146"/>
            <a:ext cx="2201445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Gateway Core: Kali Linux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20474" y="1368859"/>
            <a:ext cx="2243986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Edge Layer: Lubuntu VMs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34132" y="4611663"/>
            <a:ext cx="8709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942" y="4704680"/>
            <a:ext cx="1738058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219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Pipeline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86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3128144"/>
            <a:ext cx="8151763" cy="1905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5" name="Shape 3"/>
          <p:cNvSpPr/>
          <p:nvPr/>
        </p:nvSpPr>
        <p:spPr>
          <a:xfrm>
            <a:off x="1439094" y="2702868"/>
            <a:ext cx="19050" cy="425276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87" y="3075012"/>
            <a:ext cx="106263" cy="1062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1754981"/>
            <a:ext cx="1905000" cy="504974"/>
          </a:xfrm>
          <a:prstGeom prst="roundRect">
            <a:avLst>
              <a:gd name="adj" fmla="val 4211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637877" y="1896740"/>
            <a:ext cx="16214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UDP Transmission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480146" y="3128144"/>
            <a:ext cx="19050" cy="425276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540" y="3075012"/>
            <a:ext cx="106263" cy="10626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37171" y="3553420"/>
            <a:ext cx="1905074" cy="947886"/>
          </a:xfrm>
          <a:prstGeom prst="roundRect">
            <a:avLst>
              <a:gd name="adj" fmla="val 2243"/>
            </a:avLst>
          </a:prstGeom>
          <a:solidFill>
            <a:srgbClr val="3F4652"/>
          </a:solidFill>
          <a:ln/>
        </p:spPr>
      </p:sp>
      <p:sp>
        <p:nvSpPr>
          <p:cNvPr id="12" name="Text 8"/>
          <p:cNvSpPr/>
          <p:nvPr/>
        </p:nvSpPr>
        <p:spPr>
          <a:xfrm>
            <a:off x="1678930" y="3695179"/>
            <a:ext cx="162155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Asynchronous Socket Multiplexing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521273" y="2702868"/>
            <a:ext cx="19050" cy="425276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667" y="3075012"/>
            <a:ext cx="106263" cy="10626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78298" y="1754981"/>
            <a:ext cx="1905074" cy="947886"/>
          </a:xfrm>
          <a:prstGeom prst="roundRect">
            <a:avLst>
              <a:gd name="adj" fmla="val 2243"/>
            </a:avLst>
          </a:prstGeom>
          <a:solidFill>
            <a:srgbClr val="3F4652"/>
          </a:solidFill>
          <a:ln/>
        </p:spPr>
      </p:sp>
      <p:sp>
        <p:nvSpPr>
          <p:cNvPr id="16" name="Text 11"/>
          <p:cNvSpPr/>
          <p:nvPr/>
        </p:nvSpPr>
        <p:spPr>
          <a:xfrm>
            <a:off x="2720057" y="1896740"/>
            <a:ext cx="162155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UTC Timestamping &amp; IP Metadata Mapping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562401" y="3128144"/>
            <a:ext cx="19050" cy="425276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794" y="3075012"/>
            <a:ext cx="106263" cy="106263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619426" y="3553420"/>
            <a:ext cx="1905074" cy="947886"/>
          </a:xfrm>
          <a:prstGeom prst="roundRect">
            <a:avLst>
              <a:gd name="adj" fmla="val 2243"/>
            </a:avLst>
          </a:prstGeom>
          <a:solidFill>
            <a:srgbClr val="3F4652"/>
          </a:solidFill>
          <a:ln/>
        </p:spPr>
      </p:sp>
      <p:sp>
        <p:nvSpPr>
          <p:cNvPr id="20" name="Text 14"/>
          <p:cNvSpPr/>
          <p:nvPr/>
        </p:nvSpPr>
        <p:spPr>
          <a:xfrm>
            <a:off x="3761184" y="3695179"/>
            <a:ext cx="162155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SHA-256 Cryptographic Fingerprinting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603528" y="2702868"/>
            <a:ext cx="19050" cy="425276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21" y="3075012"/>
            <a:ext cx="106263" cy="106263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660553" y="1754981"/>
            <a:ext cx="1905074" cy="726430"/>
          </a:xfrm>
          <a:prstGeom prst="roundRect">
            <a:avLst>
              <a:gd name="adj" fmla="val 2927"/>
            </a:avLst>
          </a:prstGeom>
          <a:solidFill>
            <a:srgbClr val="3F4652"/>
          </a:solidFill>
          <a:ln/>
        </p:spPr>
      </p:sp>
      <p:sp>
        <p:nvSpPr>
          <p:cNvPr id="24" name="Text 17"/>
          <p:cNvSpPr/>
          <p:nvPr/>
        </p:nvSpPr>
        <p:spPr>
          <a:xfrm>
            <a:off x="4802312" y="1896740"/>
            <a:ext cx="16215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Signature-Based IDS Evaluation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6644655" y="3128144"/>
            <a:ext cx="19050" cy="425276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048" y="3075012"/>
            <a:ext cx="106263" cy="106263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701680" y="3553420"/>
            <a:ext cx="1905074" cy="726430"/>
          </a:xfrm>
          <a:prstGeom prst="roundRect">
            <a:avLst>
              <a:gd name="adj" fmla="val 2927"/>
            </a:avLst>
          </a:prstGeom>
          <a:solidFill>
            <a:srgbClr val="3F4652"/>
          </a:solidFill>
          <a:ln/>
        </p:spPr>
      </p:sp>
      <p:sp>
        <p:nvSpPr>
          <p:cNvPr id="28" name="Text 20"/>
          <p:cNvSpPr/>
          <p:nvPr/>
        </p:nvSpPr>
        <p:spPr>
          <a:xfrm>
            <a:off x="5843439" y="3695179"/>
            <a:ext cx="16215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Atomic SQLite Database Commit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7685782" y="2702868"/>
            <a:ext cx="19050" cy="425276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175" y="3075012"/>
            <a:ext cx="106263" cy="106263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742807" y="1754981"/>
            <a:ext cx="1905074" cy="726430"/>
          </a:xfrm>
          <a:prstGeom prst="roundRect">
            <a:avLst>
              <a:gd name="adj" fmla="val 2927"/>
            </a:avLst>
          </a:prstGeom>
          <a:solidFill>
            <a:srgbClr val="3F4652"/>
          </a:solidFill>
          <a:ln/>
        </p:spPr>
      </p:sp>
      <p:sp>
        <p:nvSpPr>
          <p:cNvPr id="32" name="Text 23"/>
          <p:cNvSpPr/>
          <p:nvPr/>
        </p:nvSpPr>
        <p:spPr>
          <a:xfrm>
            <a:off x="6884566" y="1896740"/>
            <a:ext cx="16215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Indexed Review &amp; Audit Readout</a:t>
            </a:r>
            <a:endParaRPr lang="en-US" sz="135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942" y="4704680"/>
            <a:ext cx="1738058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25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346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1272034"/>
            <a:ext cx="46320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Edge Node Configuration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9276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313905"/>
            <a:ext cx="2622724" cy="1667396"/>
          </a:xfrm>
          <a:prstGeom prst="roundRect">
            <a:avLst>
              <a:gd name="adj" fmla="val 1275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921469" y="24556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HVAC Sensor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762176"/>
            <a:ext cx="2339206" cy="1077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HVAC_Ctrl_01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00" dirty="0"/>
          </a:p>
          <a:p>
            <a:pPr marL="0" indent="0" algn="ctr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Port 5000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and humidity telemetry streams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313905"/>
            <a:ext cx="2622724" cy="1667396"/>
          </a:xfrm>
          <a:prstGeom prst="roundRect">
            <a:avLst>
              <a:gd name="adj" fmla="val 1275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3685952" y="24556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Smart Lock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2360" y="2762176"/>
            <a:ext cx="2339206" cy="1077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SmartLock_Zone_02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00" dirty="0"/>
          </a:p>
          <a:p>
            <a:pPr marL="0" indent="0" algn="ctr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Port 5001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control and status tracking events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313905"/>
            <a:ext cx="2622724" cy="1667396"/>
          </a:xfrm>
          <a:prstGeom prst="roundRect">
            <a:avLst>
              <a:gd name="adj" fmla="val 1275"/>
            </a:avLst>
          </a:prstGeom>
          <a:solidFill>
            <a:srgbClr val="3F46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50434" y="24556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Light Controller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66842" y="2762176"/>
            <a:ext cx="2339206" cy="1077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LightCtrl_Floor_01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00" dirty="0"/>
          </a:p>
          <a:p>
            <a:pPr marL="0" indent="0" algn="ctr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Port 5002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load monitoring and consumption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414077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603" y="4718028"/>
            <a:ext cx="1892397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529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1073869"/>
            <a:ext cx="57800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Asynchronous Packet Ingestion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871216"/>
            <a:ext cx="3690565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sniffer.py | Non-Blocking Design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6119" y="2278782"/>
            <a:ext cx="390294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</a:t>
            </a: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select.select()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socket multiplexing across  all  three   ports   simultaneously  eliminating   thread blocking and synchronization overhead entirely.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091532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 raw UDP payloads in real time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Maps source IPs for device identification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UTC timestamps for chain of  custody   compliance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871216"/>
            <a:ext cx="361213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Cryptographic Integrity Sealing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749701" y="2278782"/>
            <a:ext cx="390294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raw packet payload is immediately hashed using </a:t>
            </a: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hashlib.sha256()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ingestion  before any processing or storage occurs.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9701" y="3123456"/>
            <a:ext cx="3902943" cy="1282824"/>
          </a:xfrm>
          <a:prstGeom prst="roundRect">
            <a:avLst>
              <a:gd name="adj" fmla="val 1658"/>
            </a:avLst>
          </a:prstGeom>
          <a:solidFill>
            <a:srgbClr val="02234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338512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0398" y="3300636"/>
            <a:ext cx="33004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creates a mathematically tamper evident link between the stored record and the original intercepted data, satisfying court admissibility requirements.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297" y="4641523"/>
            <a:ext cx="1892397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51237" y="1463289"/>
            <a:ext cx="3895602" cy="3356195"/>
            <a:chOff x="0" y="0"/>
            <a:chExt cx="4704588" cy="3580964"/>
          </a:xfrm>
        </p:grpSpPr>
        <p:sp>
          <p:nvSpPr>
            <p:cNvPr id="3" name="Rectangle 2"/>
            <p:cNvSpPr/>
            <p:nvPr/>
          </p:nvSpPr>
          <p:spPr>
            <a:xfrm>
              <a:off x="4653915" y="3356584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4" name="Picture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826" y="4826"/>
              <a:ext cx="4622673" cy="3465830"/>
            </a:xfrm>
            <a:prstGeom prst="rect">
              <a:avLst/>
            </a:prstGeom>
          </p:spPr>
        </p:pic>
        <p:sp>
          <p:nvSpPr>
            <p:cNvPr id="5" name="Shape 1437"/>
            <p:cNvSpPr/>
            <p:nvPr/>
          </p:nvSpPr>
          <p:spPr>
            <a:xfrm>
              <a:off x="0" y="0"/>
              <a:ext cx="4632198" cy="3475355"/>
            </a:xfrm>
            <a:custGeom>
              <a:avLst/>
              <a:gdLst/>
              <a:ahLst/>
              <a:cxnLst/>
              <a:rect l="0" t="0" r="0" b="0"/>
              <a:pathLst>
                <a:path w="4632198" h="3475355">
                  <a:moveTo>
                    <a:pt x="0" y="3475355"/>
                  </a:moveTo>
                  <a:lnTo>
                    <a:pt x="4632198" y="3475355"/>
                  </a:lnTo>
                  <a:lnTo>
                    <a:pt x="4632198" y="0"/>
                  </a:lnTo>
                  <a:lnTo>
                    <a:pt x="0" y="0"/>
                  </a:lnTo>
                  <a:close/>
                </a:path>
              </a:pathLst>
            </a:custGeom>
            <a:ln w="9525" cap="flat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680196" y="1538973"/>
            <a:ext cx="4003675" cy="3678781"/>
            <a:chOff x="0" y="0"/>
            <a:chExt cx="5199254" cy="4446088"/>
          </a:xfrm>
        </p:grpSpPr>
        <p:sp>
          <p:nvSpPr>
            <p:cNvPr id="7" name="Rectangle 6"/>
            <p:cNvSpPr/>
            <p:nvPr/>
          </p:nvSpPr>
          <p:spPr>
            <a:xfrm>
              <a:off x="5148580" y="3755365"/>
              <a:ext cx="50674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67813" y="3970248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567813" y="4221708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0" name="Picture 9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699" y="4826"/>
              <a:ext cx="5128895" cy="3871468"/>
            </a:xfrm>
            <a:prstGeom prst="rect">
              <a:avLst/>
            </a:prstGeom>
          </p:spPr>
        </p:pic>
        <p:sp>
          <p:nvSpPr>
            <p:cNvPr id="11" name="Shape 1622"/>
            <p:cNvSpPr/>
            <p:nvPr/>
          </p:nvSpPr>
          <p:spPr>
            <a:xfrm>
              <a:off x="0" y="0"/>
              <a:ext cx="5138420" cy="3880993"/>
            </a:xfrm>
            <a:custGeom>
              <a:avLst/>
              <a:gdLst/>
              <a:ahLst/>
              <a:cxnLst/>
              <a:rect l="0" t="0" r="0" b="0"/>
              <a:pathLst>
                <a:path w="5138420" h="3880993">
                  <a:moveTo>
                    <a:pt x="0" y="3880993"/>
                  </a:moveTo>
                  <a:lnTo>
                    <a:pt x="5138420" y="3880993"/>
                  </a:lnTo>
                  <a:lnTo>
                    <a:pt x="5138420" y="0"/>
                  </a:lnTo>
                  <a:lnTo>
                    <a:pt x="0" y="0"/>
                  </a:lnTo>
                  <a:close/>
                </a:path>
              </a:pathLst>
            </a:custGeom>
            <a:ln w="9525" cap="flat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1074189" y="811003"/>
            <a:ext cx="2145139" cy="3684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dirty="0" smtClean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Case Diagram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391051" y="854967"/>
            <a:ext cx="2048959" cy="3804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dirty="0" smtClean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Activity Diagram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659" y="4740564"/>
            <a:ext cx="1892397" cy="41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0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61675" y="60639"/>
            <a:ext cx="5713603" cy="4689259"/>
            <a:chOff x="0" y="0"/>
            <a:chExt cx="5714048" cy="4689650"/>
          </a:xfrm>
        </p:grpSpPr>
        <p:sp>
          <p:nvSpPr>
            <p:cNvPr id="3" name="Rectangle 2"/>
            <p:cNvSpPr/>
            <p:nvPr/>
          </p:nvSpPr>
          <p:spPr>
            <a:xfrm>
              <a:off x="2042986" y="0"/>
              <a:ext cx="2077796" cy="33657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b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Implementation</a:t>
              </a:r>
              <a:endPara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3605340" y="0"/>
              <a:ext cx="76010" cy="33657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b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825052" y="255346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63375" y="4465270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7" name="Picture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63" y="524993"/>
              <a:ext cx="5635625" cy="4065143"/>
            </a:xfrm>
            <a:prstGeom prst="rect">
              <a:avLst/>
            </a:prstGeom>
          </p:spPr>
        </p:pic>
        <p:sp>
          <p:nvSpPr>
            <p:cNvPr id="8" name="Shape 1900"/>
            <p:cNvSpPr/>
            <p:nvPr/>
          </p:nvSpPr>
          <p:spPr>
            <a:xfrm>
              <a:off x="0" y="520167"/>
              <a:ext cx="5645150" cy="4074668"/>
            </a:xfrm>
            <a:custGeom>
              <a:avLst/>
              <a:gdLst/>
              <a:ahLst/>
              <a:cxnLst/>
              <a:rect l="0" t="0" r="0" b="0"/>
              <a:pathLst>
                <a:path w="5645150" h="4074668">
                  <a:moveTo>
                    <a:pt x="0" y="4074668"/>
                  </a:moveTo>
                  <a:lnTo>
                    <a:pt x="5645150" y="4074668"/>
                  </a:lnTo>
                  <a:lnTo>
                    <a:pt x="5645150" y="0"/>
                  </a:lnTo>
                  <a:lnTo>
                    <a:pt x="0" y="0"/>
                  </a:lnTo>
                  <a:close/>
                </a:path>
              </a:pathLst>
            </a:custGeom>
            <a:ln w="9525" cap="flat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532865" y="2027618"/>
            <a:ext cx="2175434" cy="970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sz="2800" dirty="0" smtClean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Component</a:t>
            </a:r>
            <a:br>
              <a:rPr lang="en-US" sz="2800" dirty="0" smtClean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sz="2800" dirty="0" smtClean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Diagram</a:t>
            </a:r>
            <a:endParaRPr lang="en-US" sz="2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659" y="4731988"/>
            <a:ext cx="1892397" cy="41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54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643"/>
            <a:ext cx="65242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Signature-Based Intrusion Detection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5037" y="111255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deterministic rules evaluate every packet at the gateway core, flagging anomalies before data is persisted.</a:t>
            </a:r>
            <a:endParaRPr lang="en-US" sz="11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16" y="1576284"/>
            <a:ext cx="7572981" cy="294931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659" y="4731988"/>
            <a:ext cx="1892397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17165"/>
            <a:ext cx="4027736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Python Libraries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27968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1578062"/>
            <a:ext cx="69726" cy="697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474" y="150390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socket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5474" y="1804318"/>
            <a:ext cx="240082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Establishes UDP connectivity and port binding for endpoint communication.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968" y="1578062"/>
            <a:ext cx="69726" cy="697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75062" y="150390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select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75062" y="1804318"/>
            <a:ext cx="240089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Performs non-blocking I/O multiplexing; critical for handling simultaneous sensor streams.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631" y="1578062"/>
            <a:ext cx="69726" cy="697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54725" y="150390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hashlib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54725" y="1804318"/>
            <a:ext cx="240082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SHA-256 digests to ensure cryptographic integrity of evidence.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2817577"/>
            <a:ext cx="69726" cy="697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5474" y="274342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sqlite3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95474" y="3043833"/>
            <a:ext cx="240082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ACID-compliant, atomic storage for tamper-evident forensic records.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968" y="2817577"/>
            <a:ext cx="69726" cy="697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75062" y="274342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json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475062" y="3043833"/>
            <a:ext cx="24008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Serializes and deserializes structured telemetry payloads for analysis.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631" y="2817577"/>
            <a:ext cx="69726" cy="6972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54725" y="274342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datetime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254725" y="3043833"/>
            <a:ext cx="240082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standardized, high-precision UTC timestamps for forensic timelines.</a:t>
            </a:r>
            <a:endParaRPr lang="en-US" sz="10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4057092"/>
            <a:ext cx="69726" cy="6972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5474" y="398293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http.server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695474" y="4283348"/>
            <a:ext cx="240082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Hosts the administrative dashboard for real-time SOC monitoring.</a:t>
            </a:r>
            <a:endParaRPr lang="en-US" sz="10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968" y="4057092"/>
            <a:ext cx="69726" cy="6972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475062" y="398293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logging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3475062" y="4283348"/>
            <a:ext cx="24008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Tracks system status and records real-time forensic alerts.</a:t>
            </a:r>
            <a:endParaRPr lang="en-US" sz="10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631" y="4057092"/>
            <a:ext cx="69726" cy="6972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254725" y="398293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struct</a:t>
            </a:r>
            <a:endParaRPr lang="en-US" sz="1350" dirty="0"/>
          </a:p>
        </p:txBody>
      </p:sp>
      <p:sp>
        <p:nvSpPr>
          <p:cNvPr id="30" name="Text 19"/>
          <p:cNvSpPr/>
          <p:nvPr/>
        </p:nvSpPr>
        <p:spPr>
          <a:xfrm>
            <a:off x="6254725" y="4283348"/>
            <a:ext cx="240082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Facilitates binary data parsing and packet structure handling.</a:t>
            </a:r>
            <a:endParaRPr lang="en-US" sz="105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942" y="4704680"/>
            <a:ext cx="1738058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61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7352" y="371430"/>
            <a:ext cx="65242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</a:t>
            </a:r>
            <a:r>
              <a:rPr lang="en-US" sz="2750" dirty="0" smtClean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ata Flow Diagram</a:t>
            </a:r>
            <a:endParaRPr lang="en-US" sz="27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659" y="4731988"/>
            <a:ext cx="1892397" cy="425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80" y="1031530"/>
            <a:ext cx="6916494" cy="39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59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508620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1871" y="651419"/>
            <a:ext cx="5300514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SQLite Relational Evidence Store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1871" y="1487612"/>
            <a:ext cx="2351112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 Why SQLite?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41871" y="1836762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1871" y="2128912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 &amp; Serverless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1871" y="2421062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1871" y="2713211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 Transaction Integrity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1871" y="3005361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1871" y="3297510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External Dependencies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1871" y="3589660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1871" y="3881810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Corruption-Resistant Logging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1871" y="4173959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1871" y="4466109"/>
            <a:ext cx="44332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Structured Querying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0800" y="1487612"/>
            <a:ext cx="2351112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Evidence Schema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30800" y="1850827"/>
            <a:ext cx="3976092" cy="2958498"/>
          </a:xfrm>
          <a:prstGeom prst="roundRect">
            <a:avLst>
              <a:gd name="adj" fmla="val 68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1768" y="1927771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Field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47433" y="1927771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1768" y="2267843"/>
            <a:ext cx="218569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47433" y="2267843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record identifier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1768" y="2612678"/>
            <a:ext cx="218569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47433" y="2612678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UTC ingestion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1768" y="2957513"/>
            <a:ext cx="218569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source_ip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47433" y="2957513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Originating device 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1768" y="3371812"/>
            <a:ext cx="218569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device_id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47433" y="3372007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Logical device class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5163" y="3724229"/>
            <a:ext cx="218569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raw_data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47433" y="3728992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UDP payload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1768" y="4055106"/>
            <a:ext cx="218569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sha256_hash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47433" y="4068394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Integrity seal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5163" y="4466109"/>
            <a:ext cx="218569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alert_flag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47433" y="4463030"/>
            <a:ext cx="218569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IDS rule trigger</a:t>
            </a:r>
            <a:endParaRPr lang="en-US" sz="12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679" y="4857666"/>
            <a:ext cx="1892397" cy="2997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6012"/>
            <a:ext cx="62443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&amp; Zero-Trust Validation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13359"/>
            <a:ext cx="3571429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 Dashboard (dashboard.py)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192092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275284"/>
            <a:ext cx="3902943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Powered by Python’s </a:t>
            </a: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http.server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lightweight back-end handling.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861221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Asynchronous Communication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21558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Utilizes JavaScript Fetch API for real time AJAX updates.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356994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&amp; Sanitization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92430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Protects the interface against HTML/XSS injection attacks.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7605" y="1371600"/>
            <a:ext cx="4107135" cy="3055888"/>
          </a:xfrm>
          <a:prstGeom prst="roundRect">
            <a:avLst>
              <a:gd name="adj" fmla="val 696"/>
            </a:avLst>
          </a:prstGeom>
          <a:solidFill>
            <a:srgbClr val="8C98CA"/>
          </a:solidFill>
          <a:ln/>
        </p:spPr>
      </p:sp>
      <p:sp>
        <p:nvSpPr>
          <p:cNvPr id="11" name="Text 9"/>
          <p:cNvSpPr/>
          <p:nvPr/>
        </p:nvSpPr>
        <p:spPr>
          <a:xfrm>
            <a:off x="4789363" y="1513359"/>
            <a:ext cx="361057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Zero-Trust Network Philosophy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789363" y="1920925"/>
            <a:ext cx="3823618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packet is treated as potentially adversarial until identity checks pass. A known IP sending HVAC data to a Smart Lock port triggers: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CRITICAL: PORT_IDENTITY_MISMATCH</a:t>
            </a:r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603" y="4640089"/>
            <a:ext cx="1892397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15156"/>
            <a:ext cx="6150248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Scenarios &amp; Comparative Edge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0640" y="1110332"/>
            <a:ext cx="8182719" cy="1936477"/>
          </a:xfrm>
          <a:prstGeom prst="roundRect">
            <a:avLst>
              <a:gd name="adj" fmla="val 106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5403" y="1115095"/>
            <a:ext cx="8172376" cy="3853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23515" y="1199629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49749" y="1199629"/>
            <a:ext cx="29017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73601" y="1199629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5403" y="1500485"/>
            <a:ext cx="8172376" cy="3853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3515" y="1585020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TC-01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49749" y="1585020"/>
            <a:ext cx="29017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telemetry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73601" y="1585020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Stored, no flags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5403" y="1885876"/>
            <a:ext cx="8172376" cy="3853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3515" y="1970410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TC-02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49749" y="1970410"/>
            <a:ext cx="29017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 anomaly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73601" y="1970410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OUT_OF_BOUNDS_TEMP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5403" y="2271266"/>
            <a:ext cx="8172376" cy="3853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3515" y="2355800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TC-03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49749" y="2355800"/>
            <a:ext cx="29017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Identity spoof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73601" y="2355800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PORT_IDENTITY_MISMATCH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5403" y="2656656"/>
            <a:ext cx="8172376" cy="3853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3515" y="2741191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TC-04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49749" y="2741191"/>
            <a:ext cx="29017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Brute force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73601" y="2741191"/>
            <a:ext cx="290408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BRUTE_FORCE_SUSPECTED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640" y="3329434"/>
            <a:ext cx="240216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Comparative Advantage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0640" y="3676948"/>
            <a:ext cx="3923854" cy="10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packet ingestion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SHA-256 sealing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Signature-based IDS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local structured storage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44269" y="3329434"/>
            <a:ext cx="24003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Highlights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744269" y="3676948"/>
            <a:ext cx="3923854" cy="75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Non-Blocking Multiplexing (</a:t>
            </a:r>
            <a:r>
              <a:rPr lang="en-US" sz="10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select.select()</a:t>
            </a: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Third-Party Dependencies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Resource-Efficient Architecture</a:t>
            </a:r>
            <a:endParaRPr lang="en-US" sz="10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603" y="4706899"/>
            <a:ext cx="1892397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295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1501527"/>
            <a:ext cx="64564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 &amp; Conclusion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215711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7658" y="2543398"/>
            <a:ext cx="19436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 Anomaly Detection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7658" y="2849910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Transition from signature-based rules to trained models for novel attack signatures.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803972" y="2543398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Multi-Gateway Federation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803972" y="3071366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Distributed gateway nodes for geographically scaled industrial environments.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580287" y="2543398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</a:t>
            </a: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nterprise SIEM Integration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580287" y="3071366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 logs for Splunk and IBM QRadar for enterprise security workflows.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96119" y="391127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685" y="4678516"/>
            <a:ext cx="1892397" cy="42547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96" y="2396431"/>
            <a:ext cx="665762" cy="63840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721" y="2481724"/>
            <a:ext cx="560250" cy="49184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704" y="2460965"/>
            <a:ext cx="608582" cy="4781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6338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97931" y="2002036"/>
            <a:ext cx="51195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THANKYOU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2571304" y="2826023"/>
            <a:ext cx="37727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Any Questions 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3481611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942" y="4704680"/>
            <a:ext cx="1738058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51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726</Words>
  <Application>Microsoft Office PowerPoint</Application>
  <PresentationFormat>On-screen Show (16:9)</PresentationFormat>
  <Paragraphs>181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Roboto Slab</vt:lpstr>
      <vt:lpstr>Consolas</vt:lpstr>
      <vt:lpstr>Calibri</vt:lpstr>
      <vt:lpstr>Times New Roman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faaiz</dc:creator>
  <cp:lastModifiedBy>Microsoft account</cp:lastModifiedBy>
  <cp:revision>7</cp:revision>
  <dcterms:created xsi:type="dcterms:W3CDTF">2026-06-02T15:42:49Z</dcterms:created>
  <dcterms:modified xsi:type="dcterms:W3CDTF">2026-06-03T06:58:19Z</dcterms:modified>
</cp:coreProperties>
</file>